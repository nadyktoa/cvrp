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8"/>
  </p:notesMasterIdLst>
  <p:handoutMasterIdLst>
    <p:handoutMasterId r:id="rId9"/>
  </p:handoutMasterIdLst>
  <p:sldIdLst>
    <p:sldId id="256" r:id="rId2"/>
    <p:sldId id="293" r:id="rId3"/>
    <p:sldId id="329" r:id="rId4"/>
    <p:sldId id="333" r:id="rId5"/>
    <p:sldId id="332" r:id="rId6"/>
    <p:sldId id="328" r:id="rId7"/>
  </p:sldIdLst>
  <p:sldSz cx="12192000" cy="6858000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95D8"/>
    <a:srgbClr val="FFFFFF"/>
    <a:srgbClr val="30D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92" autoAdjust="0"/>
    <p:restoredTop sz="94660"/>
  </p:normalViewPr>
  <p:slideViewPr>
    <p:cSldViewPr snapToGrid="0">
      <p:cViewPr varScale="1">
        <p:scale>
          <a:sx n="86" d="100"/>
          <a:sy n="86" d="100"/>
        </p:scale>
        <p:origin x="46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91BF6EC-5077-48D5-963D-9D3EB08321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0FEDCB0-E4BA-4F30-B2CB-691296EDAC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C495D83-AB1E-4B18-ADFB-ED43497AA178}" type="datetimeFigureOut">
              <a:rPr lang="ru-RU"/>
              <a:pPr>
                <a:defRPr/>
              </a:pPr>
              <a:t>08.02.2026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7F1DA09-B2D2-41EA-97B6-5EA819F443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F1619C-A3EE-44B0-94E2-195E5BA7FBB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13BAC7F-64A2-4E76-B3FF-5E5996FE227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F477D5C9-1BFF-46B5-B4BA-EE25AECDFC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1ECA353-13A3-42E8-BC3D-073B172248E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79329D5-4001-4886-9712-2D20F3D7A45D}" type="datetimeFigureOut">
              <a:rPr lang="ru-RU"/>
              <a:pPr>
                <a:defRPr/>
              </a:pPr>
              <a:t>08.02.2026</a:t>
            </a:fld>
            <a:endParaRPr lang="ru-RU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1D9CF461-D6B5-4DCA-BAC9-CE2A79022A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8953E688-78F8-444F-BDAE-FA2B302069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F690C5-D46C-4A2F-B17E-442C7B071D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E972F2-36C9-4B4C-A02B-1C62D21B40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79A07E8-9A7E-4FDF-81B5-FD39C7300DD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098D10-188A-47F5-B8E8-28186D3CB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0AFCFB-8792-436D-A569-16E4D8B98C8C}" type="datetime1">
              <a:rPr lang="ru-RU"/>
              <a:pPr>
                <a:defRPr/>
              </a:pPr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4B04EB-3675-4CAB-AC7D-FFDF03349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Надыкто А.С., ОмГТУ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82786D-1D3A-4B25-B60F-4D8DDDCA8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9E8AC-9822-4210-8E6C-4ADB4A9D82B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532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602E5A-1A15-4829-AF05-0468CDA32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F0DCB1-F421-4CF1-91D5-5CD48901319A}" type="datetime1">
              <a:rPr lang="ru-RU"/>
              <a:pPr>
                <a:defRPr/>
              </a:pPr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A15AD5-6AF2-4B01-9891-80186B674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Надыкто А.С., ОмГТУ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6C5656-2133-459C-AE72-4677B8D6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BF0D6-D73A-4996-80E6-99F6DE2986B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282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35A437-60CF-4F5A-BD90-8A109CBEB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75A15-0879-48A0-A556-6CB06EC2D0DE}" type="datetime1">
              <a:rPr lang="ru-RU"/>
              <a:pPr>
                <a:defRPr/>
              </a:pPr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3CA554-0567-4361-8966-71C3F0AD5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Надыкто А.С., ОмГТУ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505B76-E521-40F5-9379-C4089E0DE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C5467D-2460-4EFC-A5C5-E0DD08C906D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512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4824646B-C5F1-418B-B07E-11DB9ECED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00598-343F-48A5-BDEC-EF00CB6EA22C}" type="datetime1">
              <a:rPr lang="ru-RU"/>
              <a:pPr>
                <a:defRPr/>
              </a:pPr>
              <a:t>08.02.2026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FE74CB3B-8D9B-437A-AF11-C9A594CEF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Надыкто А.С., ОмГТУ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AA5C1C03-E624-4B94-9744-49D75CF5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15D90-14F6-41AB-8BCE-E62178CB215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105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FFB7177F-F041-4707-B90B-311A9DE47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4A6F7-6F62-43C1-AAB1-C0C6869EA94B}" type="datetime1">
              <a:rPr lang="ru-RU"/>
              <a:pPr>
                <a:defRPr/>
              </a:pPr>
              <a:t>08.02.2026</a:t>
            </a:fld>
            <a:endParaRPr lang="ru-RU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79284632-9F8D-4ACD-91B3-81E7A706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Надыкто А.С., ОмГТУ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0BC13CBD-0939-4E23-A842-1D8F46EF5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BA0C3A-92BB-4502-A2C3-F1A2719892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607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1A97862B-8D8E-472E-9F79-BB1870A08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443864-BCA8-4F37-8695-14911FEFA4A2}" type="datetime1">
              <a:rPr lang="ru-RU"/>
              <a:pPr>
                <a:defRPr/>
              </a:pPr>
              <a:t>08.02.2026</a:t>
            </a:fld>
            <a:endParaRPr lang="ru-RU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962CFD3D-1AC6-49F9-A96E-D9B39CB89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Надыкто А.С., ОмГТУ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7C84381-C8E5-4086-8BDF-E3BA405EF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121777-3D82-41BD-AF04-B042B917A3F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277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A1B254B5-7701-4D27-A855-2FC792224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812623-2A65-41B6-A7D7-C3BCDE52B613}" type="datetime1">
              <a:rPr lang="ru-RU"/>
              <a:pPr>
                <a:defRPr/>
              </a:pPr>
              <a:t>08.02.2026</a:t>
            </a:fld>
            <a:endParaRPr lang="ru-RU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67E2CF97-EEB3-4C7F-B805-54ED1373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Надыкто А.С., ОмГТУ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C1861CDA-DFD0-41F2-9910-ABDCC626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03292-BE81-484F-84BA-6EBFF7FE0E9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854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B4DA69DB-9725-461B-A1CE-903236E1D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17A564-8755-4EA5-941E-CC2AA8606076}" type="datetime1">
              <a:rPr lang="ru-RU"/>
              <a:pPr>
                <a:defRPr/>
              </a:pPr>
              <a:t>08.02.2026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0A66BFCA-85EF-46F6-BBC7-DD06AF591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Надыкто А.С., ОмГТУ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83DC9C37-B0B9-4EE4-9360-0A6B8B641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A82B71-F2A3-4FD5-A407-826B971D6E0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6965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A0D61569-2022-45EB-89C0-5C36EEBB9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9BF708-C176-4BD8-9BB2-DCCDE9AE5470}" type="datetime1">
              <a:rPr lang="ru-RU"/>
              <a:pPr>
                <a:defRPr/>
              </a:pPr>
              <a:t>08.02.2026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13310D57-C471-4924-9BA6-2D5A39D0C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Надыкто А.С., ОмГТУ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C47A409A-F679-4630-AC1F-38FDE9C63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DD86CB-C845-47DA-B3A9-ACB6FE435C8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3933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1A2449-9CF6-4A38-BA35-777A75840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47530-A345-4751-9F6D-E570BEE3B12F}" type="datetime1">
              <a:rPr lang="ru-RU"/>
              <a:pPr>
                <a:defRPr/>
              </a:pPr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B32E9E-80C9-4157-9801-86AA3E037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Надыкто А.С., ОмГТУ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CEBF67-A07C-4BBF-8A2C-0A29E2A4D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C3A22-72EE-434B-9CB7-D7C16513B69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3108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B77556-2ABA-4DA9-ACE2-416CE4834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12DFA4-3580-4960-ACCF-7583FB07AA48}" type="datetime1">
              <a:rPr lang="ru-RU"/>
              <a:pPr>
                <a:defRPr/>
              </a:pPr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17F2F0-CA36-4AB6-96E8-D790FB97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Надыкто А.С., ОмГТУ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10DF72-7AD6-470E-B99F-85C7F17A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530475-CC2B-4726-B82B-11FAA732337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10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E0BE7EDA-33AA-4A08-B0F0-04B53BC65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7DD2ED12-D975-404C-AEAF-A443D4BF7E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7E667F-6524-4D66-AF7A-9AB0FB34E8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61522D6-329D-4E7C-891B-1043777D2ADD}" type="datetime1">
              <a:rPr lang="ru-RU"/>
              <a:pPr>
                <a:defRPr/>
              </a:pPr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1BF49D-2216-4920-A78C-7DFE49AB4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ru-RU"/>
              <a:t>Надыкто А.С., ОмГТУ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614531-E87F-433C-AB12-E21B2CC1A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B389FAE-302D-45B8-8C01-E6A8B746492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NadyktoA/CVRP/tree/mai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Рисунок 4">
            <a:extLst>
              <a:ext uri="{FF2B5EF4-FFF2-40B4-BE49-F238E27FC236}">
                <a16:creationId xmlns:a16="http://schemas.microsoft.com/office/drawing/2014/main" id="{1357D9F5-FAFB-44C3-ACDF-DD0EAA909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90412" cy="683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Заголовок 1">
            <a:extLst>
              <a:ext uri="{FF2B5EF4-FFF2-40B4-BE49-F238E27FC236}">
                <a16:creationId xmlns:a16="http://schemas.microsoft.com/office/drawing/2014/main" id="{F543B6B3-BB61-4E35-9F36-262C63442A6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35048" y="2166151"/>
            <a:ext cx="10185400" cy="1804726"/>
          </a:xfrm>
        </p:spPr>
        <p:txBody>
          <a:bodyPr/>
          <a:lstStyle/>
          <a:p>
            <a:pPr eaLnBrk="1" hangingPunct="1"/>
            <a:r>
              <a:rPr lang="ru-RU" sz="4400" b="1" dirty="0">
                <a:latin typeface="Arial" panose="020B0604020202020204" pitchFamily="34" charset="0"/>
                <a:cs typeface="Arial" panose="020B0604020202020204" pitchFamily="34" charset="0"/>
              </a:rPr>
              <a:t>Решение задачи маршрутизации транспорта с ограничениями грузоподъемности</a:t>
            </a:r>
            <a:endParaRPr lang="ru-RU" altLang="ru-RU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0" name="Подзаголовок 2">
            <a:extLst>
              <a:ext uri="{FF2B5EF4-FFF2-40B4-BE49-F238E27FC236}">
                <a16:creationId xmlns:a16="http://schemas.microsoft.com/office/drawing/2014/main" id="{E3B77E11-B8E5-44B6-9E94-B0BD725268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52584" y="4607511"/>
            <a:ext cx="9144000" cy="1331650"/>
          </a:xfrm>
        </p:spPr>
        <p:txBody>
          <a:bodyPr/>
          <a:lstStyle/>
          <a:p>
            <a:pPr algn="r" eaLnBrk="1" hangingPunct="1">
              <a:lnSpc>
                <a:spcPct val="110000"/>
              </a:lnSpc>
            </a:pP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Выполнил: студент МСМТ-253 </a:t>
            </a:r>
          </a:p>
          <a:p>
            <a:pPr algn="r" eaLnBrk="1" hangingPunct="1">
              <a:lnSpc>
                <a:spcPct val="110000"/>
              </a:lnSpc>
            </a:pP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Надыкто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А.С.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9E4590-D118-44B3-8F34-7075F79AE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584" y="267481"/>
            <a:ext cx="8550329" cy="10862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631BD2C-207B-4A16-B43C-E18D3E1BA79D}"/>
              </a:ext>
            </a:extLst>
          </p:cNvPr>
          <p:cNvSpPr/>
          <p:nvPr/>
        </p:nvSpPr>
        <p:spPr>
          <a:xfrm>
            <a:off x="0" y="0"/>
            <a:ext cx="12192000" cy="803275"/>
          </a:xfrm>
          <a:prstGeom prst="rect">
            <a:avLst/>
          </a:prstGeom>
          <a:gradFill flip="none" rotWithShape="1">
            <a:gsLst>
              <a:gs pos="0">
                <a:srgbClr val="6295D8">
                  <a:tint val="66000"/>
                  <a:satMod val="160000"/>
                </a:srgbClr>
              </a:gs>
              <a:gs pos="50000">
                <a:srgbClr val="6295D8">
                  <a:tint val="44500"/>
                  <a:satMod val="160000"/>
                </a:srgbClr>
              </a:gs>
              <a:gs pos="100000">
                <a:srgbClr val="6295D8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rgbClr val="629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A9C45-8839-4ED9-9FD0-321D5FE50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26035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решения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0A46DE8-2F3C-418C-B432-7B8C3E844123}"/>
              </a:ext>
            </a:extLst>
          </p:cNvPr>
          <p:cNvCxnSpPr/>
          <p:nvPr/>
        </p:nvCxnSpPr>
        <p:spPr>
          <a:xfrm>
            <a:off x="0" y="6305550"/>
            <a:ext cx="12192000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126" name="Нижний колонтитул 7">
            <a:extLst>
              <a:ext uri="{FF2B5EF4-FFF2-40B4-BE49-F238E27FC236}">
                <a16:creationId xmlns:a16="http://schemas.microsoft.com/office/drawing/2014/main" id="{5D605564-03A6-4277-A8F3-5D9F58E1AE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ru-RU" altLang="ru-RU" sz="1800" dirty="0" err="1">
                <a:latin typeface="Aptos"/>
              </a:rPr>
              <a:t>Надыкто</a:t>
            </a:r>
            <a:r>
              <a:rPr lang="ru-RU" altLang="ru-RU" sz="1800" dirty="0">
                <a:latin typeface="Aptos"/>
              </a:rPr>
              <a:t> А.С., ВШЭ, МИЭМ</a:t>
            </a:r>
          </a:p>
        </p:txBody>
      </p:sp>
      <p:sp>
        <p:nvSpPr>
          <p:cNvPr id="5127" name="Номер слайда 8">
            <a:extLst>
              <a:ext uri="{FF2B5EF4-FFF2-40B4-BE49-F238E27FC236}">
                <a16:creationId xmlns:a16="http://schemas.microsoft.com/office/drawing/2014/main" id="{2F6D2468-D5E8-4019-9278-8AE8A73282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4B489A03-4948-48E8-8463-5DF5AC23AF87}" type="slidenum">
              <a:rPr lang="ru-RU" altLang="ru-RU" sz="1800" smtClean="0">
                <a:latin typeface="Aptos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</a:t>
            </a:fld>
            <a:endParaRPr lang="ru-RU" altLang="ru-RU" sz="1800" dirty="0"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1D91BD-504A-4795-B176-BA1A752514CF}"/>
              </a:ext>
            </a:extLst>
          </p:cNvPr>
          <p:cNvSpPr txBox="1"/>
          <p:nvPr/>
        </p:nvSpPr>
        <p:spPr>
          <a:xfrm>
            <a:off x="485312" y="1202770"/>
            <a:ext cx="11221375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Метод имитации отжига (</a:t>
            </a:r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Simulated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Annealing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, SA)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— это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метаэвристический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алгоритм, вдохновленный процессом из металлургии, где металл нагревают и медленно охлаждают для минимизации дефектов кристаллической структуры.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	1.Алгоритм начинает с генерации случайного начального решения. </a:t>
            </a:r>
          </a:p>
          <a:p>
            <a:pPr algn="just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	2.На каждой итерации генерируется соседнее решение путём небольшого изменения текущего — в контексте CVRP это может быть перераспределение клиента между маршрутами (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relocate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), обмен клиентами между маршрутами (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exchange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) или инверсия сегмента маршрута (2-opt). </a:t>
            </a:r>
          </a:p>
          <a:p>
            <a:pPr algn="just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	3.Если новое решение лучше (меньшая общая длина маршрутов или стоимость), оно принимается.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631BD2C-207B-4A16-B43C-E18D3E1BA79D}"/>
              </a:ext>
            </a:extLst>
          </p:cNvPr>
          <p:cNvSpPr/>
          <p:nvPr/>
        </p:nvSpPr>
        <p:spPr>
          <a:xfrm>
            <a:off x="0" y="0"/>
            <a:ext cx="12192000" cy="803275"/>
          </a:xfrm>
          <a:prstGeom prst="rect">
            <a:avLst/>
          </a:prstGeom>
          <a:gradFill flip="none" rotWithShape="1">
            <a:gsLst>
              <a:gs pos="0">
                <a:srgbClr val="6295D8">
                  <a:tint val="66000"/>
                  <a:satMod val="160000"/>
                </a:srgbClr>
              </a:gs>
              <a:gs pos="50000">
                <a:srgbClr val="6295D8">
                  <a:tint val="44500"/>
                  <a:satMod val="160000"/>
                </a:srgbClr>
              </a:gs>
              <a:gs pos="100000">
                <a:srgbClr val="6295D8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rgbClr val="629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A9C45-8839-4ED9-9FD0-321D5FE50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26035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Полученные результаты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0A46DE8-2F3C-418C-B432-7B8C3E844123}"/>
              </a:ext>
            </a:extLst>
          </p:cNvPr>
          <p:cNvCxnSpPr/>
          <p:nvPr/>
        </p:nvCxnSpPr>
        <p:spPr>
          <a:xfrm>
            <a:off x="0" y="6305550"/>
            <a:ext cx="12192000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126" name="Нижний колонтитул 7">
            <a:extLst>
              <a:ext uri="{FF2B5EF4-FFF2-40B4-BE49-F238E27FC236}">
                <a16:creationId xmlns:a16="http://schemas.microsoft.com/office/drawing/2014/main" id="{5D605564-03A6-4277-A8F3-5D9F58E1AE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ru-RU" altLang="ru-RU" sz="1800" dirty="0" err="1">
                <a:latin typeface="Aptos"/>
              </a:rPr>
              <a:t>Надыкто</a:t>
            </a:r>
            <a:r>
              <a:rPr lang="ru-RU" altLang="ru-RU" sz="1800" dirty="0">
                <a:latin typeface="Aptos"/>
              </a:rPr>
              <a:t> А.С., ВШЭ, МИЭМ</a:t>
            </a:r>
          </a:p>
        </p:txBody>
      </p:sp>
      <p:sp>
        <p:nvSpPr>
          <p:cNvPr id="5127" name="Номер слайда 8">
            <a:extLst>
              <a:ext uri="{FF2B5EF4-FFF2-40B4-BE49-F238E27FC236}">
                <a16:creationId xmlns:a16="http://schemas.microsoft.com/office/drawing/2014/main" id="{2F6D2468-D5E8-4019-9278-8AE8A73282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4B489A03-4948-48E8-8463-5DF5AC23AF87}" type="slidenum">
              <a:rPr lang="ru-RU" altLang="ru-RU" sz="1800" smtClean="0">
                <a:latin typeface="Aptos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</a:t>
            </a:fld>
            <a:endParaRPr lang="ru-RU" altLang="ru-RU" sz="1800" dirty="0">
              <a:latin typeface="Apto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7931815-3E11-40E5-A726-3E2488FDE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3" y="828674"/>
            <a:ext cx="9352533" cy="545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050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631BD2C-207B-4A16-B43C-E18D3E1BA79D}"/>
              </a:ext>
            </a:extLst>
          </p:cNvPr>
          <p:cNvSpPr/>
          <p:nvPr/>
        </p:nvSpPr>
        <p:spPr>
          <a:xfrm>
            <a:off x="0" y="0"/>
            <a:ext cx="12192000" cy="803275"/>
          </a:xfrm>
          <a:prstGeom prst="rect">
            <a:avLst/>
          </a:prstGeom>
          <a:gradFill flip="none" rotWithShape="1">
            <a:gsLst>
              <a:gs pos="0">
                <a:srgbClr val="6295D8">
                  <a:tint val="66000"/>
                  <a:satMod val="160000"/>
                </a:srgbClr>
              </a:gs>
              <a:gs pos="50000">
                <a:srgbClr val="6295D8">
                  <a:tint val="44500"/>
                  <a:satMod val="160000"/>
                </a:srgbClr>
              </a:gs>
              <a:gs pos="100000">
                <a:srgbClr val="6295D8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rgbClr val="629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A9C45-8839-4ED9-9FD0-321D5FE50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26035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Полученные результаты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0A46DE8-2F3C-418C-B432-7B8C3E844123}"/>
              </a:ext>
            </a:extLst>
          </p:cNvPr>
          <p:cNvCxnSpPr/>
          <p:nvPr/>
        </p:nvCxnSpPr>
        <p:spPr>
          <a:xfrm>
            <a:off x="0" y="6305550"/>
            <a:ext cx="12192000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126" name="Нижний колонтитул 7">
            <a:extLst>
              <a:ext uri="{FF2B5EF4-FFF2-40B4-BE49-F238E27FC236}">
                <a16:creationId xmlns:a16="http://schemas.microsoft.com/office/drawing/2014/main" id="{5D605564-03A6-4277-A8F3-5D9F58E1AE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ru-RU" altLang="ru-RU" sz="1800" dirty="0" err="1">
                <a:latin typeface="Aptos"/>
              </a:rPr>
              <a:t>Надыкто</a:t>
            </a:r>
            <a:r>
              <a:rPr lang="ru-RU" altLang="ru-RU" sz="1800" dirty="0">
                <a:latin typeface="Aptos"/>
              </a:rPr>
              <a:t> А.С., ВШЭ, МИЭМ</a:t>
            </a:r>
          </a:p>
        </p:txBody>
      </p:sp>
      <p:sp>
        <p:nvSpPr>
          <p:cNvPr id="5127" name="Номер слайда 8">
            <a:extLst>
              <a:ext uri="{FF2B5EF4-FFF2-40B4-BE49-F238E27FC236}">
                <a16:creationId xmlns:a16="http://schemas.microsoft.com/office/drawing/2014/main" id="{2F6D2468-D5E8-4019-9278-8AE8A73282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4B489A03-4948-48E8-8463-5DF5AC23AF87}" type="slidenum">
              <a:rPr lang="ru-RU" altLang="ru-RU" sz="1800" smtClean="0">
                <a:latin typeface="Aptos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4</a:t>
            </a:fld>
            <a:endParaRPr lang="ru-RU" altLang="ru-RU" sz="1800" dirty="0">
              <a:latin typeface="Apto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EACD2E-8552-4D83-9206-011E0ABB2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726" y="830163"/>
            <a:ext cx="7752947" cy="544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860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631BD2C-207B-4A16-B43C-E18D3E1BA79D}"/>
              </a:ext>
            </a:extLst>
          </p:cNvPr>
          <p:cNvSpPr/>
          <p:nvPr/>
        </p:nvSpPr>
        <p:spPr>
          <a:xfrm>
            <a:off x="0" y="0"/>
            <a:ext cx="12192000" cy="803275"/>
          </a:xfrm>
          <a:prstGeom prst="rect">
            <a:avLst/>
          </a:prstGeom>
          <a:gradFill flip="none" rotWithShape="1">
            <a:gsLst>
              <a:gs pos="0">
                <a:srgbClr val="6295D8">
                  <a:tint val="66000"/>
                  <a:satMod val="160000"/>
                </a:srgbClr>
              </a:gs>
              <a:gs pos="50000">
                <a:srgbClr val="6295D8">
                  <a:tint val="44500"/>
                  <a:satMod val="160000"/>
                </a:srgbClr>
              </a:gs>
              <a:gs pos="100000">
                <a:srgbClr val="6295D8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rgbClr val="629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A9C45-8839-4ED9-9FD0-321D5FE50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26035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Выводы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0A46DE8-2F3C-418C-B432-7B8C3E844123}"/>
              </a:ext>
            </a:extLst>
          </p:cNvPr>
          <p:cNvCxnSpPr/>
          <p:nvPr/>
        </p:nvCxnSpPr>
        <p:spPr>
          <a:xfrm>
            <a:off x="0" y="6305550"/>
            <a:ext cx="12192000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126" name="Нижний колонтитул 7">
            <a:extLst>
              <a:ext uri="{FF2B5EF4-FFF2-40B4-BE49-F238E27FC236}">
                <a16:creationId xmlns:a16="http://schemas.microsoft.com/office/drawing/2014/main" id="{5D605564-03A6-4277-A8F3-5D9F58E1AE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ru-RU" altLang="ru-RU" sz="1800" dirty="0" err="1">
                <a:latin typeface="Aptos"/>
              </a:rPr>
              <a:t>Надыкто</a:t>
            </a:r>
            <a:r>
              <a:rPr lang="ru-RU" altLang="ru-RU" sz="1800" dirty="0">
                <a:latin typeface="Aptos"/>
              </a:rPr>
              <a:t> А.С., ВШЭ, МИЭМ</a:t>
            </a:r>
          </a:p>
        </p:txBody>
      </p:sp>
      <p:sp>
        <p:nvSpPr>
          <p:cNvPr id="5127" name="Номер слайда 8">
            <a:extLst>
              <a:ext uri="{FF2B5EF4-FFF2-40B4-BE49-F238E27FC236}">
                <a16:creationId xmlns:a16="http://schemas.microsoft.com/office/drawing/2014/main" id="{2F6D2468-D5E8-4019-9278-8AE8A73282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4B489A03-4948-48E8-8463-5DF5AC23AF87}" type="slidenum">
              <a:rPr lang="ru-RU" altLang="ru-RU" sz="1800" smtClean="0">
                <a:latin typeface="Aptos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5</a:t>
            </a:fld>
            <a:endParaRPr lang="ru-RU" altLang="ru-RU" sz="1800" dirty="0">
              <a:latin typeface="Aptos"/>
            </a:endParaRPr>
          </a:p>
        </p:txBody>
      </p:sp>
      <p:sp>
        <p:nvSpPr>
          <p:cNvPr id="5128" name="Объект 9">
            <a:extLst>
              <a:ext uri="{FF2B5EF4-FFF2-40B4-BE49-F238E27FC236}">
                <a16:creationId xmlns:a16="http://schemas.microsoft.com/office/drawing/2014/main" id="{F98D45EB-859A-40C3-BE65-9BC8CDF027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16893" y="1622395"/>
            <a:ext cx="7490920" cy="3613210"/>
          </a:xfrm>
        </p:spPr>
        <p:txBody>
          <a:bodyPr/>
          <a:lstStyle/>
          <a:p>
            <a:pPr algn="just" eaLnBrk="1" hangingPunct="1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Метод имитации отжига подходит для решения задач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CVRP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при этом не сложен для реализации на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/>
            <a:r>
              <a:rPr lang="ru-RU" altLang="ru-RU" dirty="0">
                <a:latin typeface="Arial" panose="020B0604020202020204" pitchFamily="34" charset="0"/>
                <a:cs typeface="Arial" panose="020B0604020202020204" pitchFamily="34" charset="0"/>
              </a:rPr>
              <a:t>Наблюдается рост ошибки и времени вычисления при увеличении размерности узлов в  2-3 раза</a:t>
            </a:r>
          </a:p>
          <a:p>
            <a:pPr algn="just" eaLnBrk="1" hangingPunct="1"/>
            <a:r>
              <a:rPr lang="ru-RU" altLang="ru-RU" dirty="0">
                <a:latin typeface="Arial" panose="020B0604020202020204" pitchFamily="34" charset="0"/>
                <a:cs typeface="Arial" panose="020B0604020202020204" pitchFamily="34" charset="0"/>
              </a:rPr>
              <a:t>Среднее отклонение по сетам:</a:t>
            </a:r>
          </a:p>
          <a:p>
            <a:pPr marL="0" indent="0" algn="just" eaLnBrk="1" hangingPunct="1">
              <a:buNone/>
            </a:pPr>
            <a:r>
              <a:rPr lang="en-US" altLang="ru-RU" dirty="0">
                <a:latin typeface="Arial" panose="020B0604020202020204" pitchFamily="34" charset="0"/>
                <a:cs typeface="Arial" panose="020B0604020202020204" pitchFamily="34" charset="0"/>
              </a:rPr>
              <a:t>Set A – 6,01%; Set B – 4,42%; Set E – 9,25%</a:t>
            </a:r>
            <a:endParaRPr lang="ru-RU" alt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eaLnBrk="1" hangingPunct="1">
              <a:buNone/>
            </a:pPr>
            <a:endParaRPr lang="ru-RU" alt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eaLnBrk="1" hangingPunct="1">
              <a:buNone/>
            </a:pPr>
            <a:r>
              <a:rPr lang="en-US" u="sng" dirty="0">
                <a:hlinkClick r:id="rId2"/>
              </a:rPr>
              <a:t>https://github.com/NadyktoA/CVRP/tree/main</a:t>
            </a:r>
            <a:endParaRPr lang="en-US" alt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357B16-AC00-4B0C-BA99-70CDE5D8F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87" y="1816468"/>
            <a:ext cx="3231160" cy="322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68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15A89BD-71F3-4B81-8A95-7EBFF8749671}"/>
              </a:ext>
            </a:extLst>
          </p:cNvPr>
          <p:cNvSpPr/>
          <p:nvPr/>
        </p:nvSpPr>
        <p:spPr>
          <a:xfrm>
            <a:off x="0" y="0"/>
            <a:ext cx="12192000" cy="803275"/>
          </a:xfrm>
          <a:prstGeom prst="rect">
            <a:avLst/>
          </a:prstGeom>
          <a:gradFill flip="none" rotWithShape="1">
            <a:gsLst>
              <a:gs pos="0">
                <a:srgbClr val="6295D8">
                  <a:tint val="66000"/>
                  <a:satMod val="160000"/>
                </a:srgbClr>
              </a:gs>
              <a:gs pos="50000">
                <a:srgbClr val="6295D8">
                  <a:tint val="44500"/>
                  <a:satMod val="160000"/>
                </a:srgbClr>
              </a:gs>
              <a:gs pos="100000">
                <a:srgbClr val="6295D8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rgbClr val="629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E0292E-66CB-4300-ACDD-F611704DB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463" y="2765425"/>
            <a:ext cx="5807075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Спасибо за внимание!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0060445-0DE2-483F-999D-C202E1435964}"/>
              </a:ext>
            </a:extLst>
          </p:cNvPr>
          <p:cNvCxnSpPr/>
          <p:nvPr/>
        </p:nvCxnSpPr>
        <p:spPr>
          <a:xfrm>
            <a:off x="0" y="6305550"/>
            <a:ext cx="12192000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366" name="Нижний колонтитул 7">
            <a:extLst>
              <a:ext uri="{FF2B5EF4-FFF2-40B4-BE49-F238E27FC236}">
                <a16:creationId xmlns:a16="http://schemas.microsoft.com/office/drawing/2014/main" id="{5DFDCDC6-FD3D-4A71-B262-6D7F2EA523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ru-RU" altLang="ru-RU" sz="1800" dirty="0" err="1">
                <a:latin typeface="Aptos"/>
              </a:rPr>
              <a:t>Надыкто</a:t>
            </a:r>
            <a:r>
              <a:rPr lang="ru-RU" altLang="ru-RU" sz="1800" dirty="0">
                <a:latin typeface="Aptos"/>
              </a:rPr>
              <a:t> А.С., ВШЭ, МИЭМ</a:t>
            </a:r>
          </a:p>
        </p:txBody>
      </p:sp>
      <p:sp>
        <p:nvSpPr>
          <p:cNvPr id="15367" name="Номер слайда 8">
            <a:extLst>
              <a:ext uri="{FF2B5EF4-FFF2-40B4-BE49-F238E27FC236}">
                <a16:creationId xmlns:a16="http://schemas.microsoft.com/office/drawing/2014/main" id="{9411452E-E1F7-42CC-A750-547F617D62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F1A0F891-F38B-4FA2-8370-82606CBEE917}" type="slidenum">
              <a:rPr lang="ru-RU" altLang="ru-RU" sz="1800" smtClean="0">
                <a:latin typeface="Aptos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6</a:t>
            </a:fld>
            <a:endParaRPr lang="ru-RU" altLang="ru-RU" sz="1800"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1771</TotalTime>
  <Words>135</Words>
  <Application>Microsoft Office PowerPoint</Application>
  <PresentationFormat>Широкоэкранный</PresentationFormat>
  <Paragraphs>31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Тема Office</vt:lpstr>
      <vt:lpstr>Решение задачи маршрутизации транспорта с ограничениями грузоподъемности</vt:lpstr>
      <vt:lpstr>Метод решения</vt:lpstr>
      <vt:lpstr>Полученные результаты</vt:lpstr>
      <vt:lpstr>Полученные результаты</vt:lpstr>
      <vt:lpstr>Выводы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Константы коагуляции  технического углерода</dc:title>
  <dc:creator>Andrey Nadykto</dc:creator>
  <cp:lastModifiedBy>Andrey Nadykto</cp:lastModifiedBy>
  <cp:revision>47</cp:revision>
  <dcterms:created xsi:type="dcterms:W3CDTF">2024-03-03T15:57:56Z</dcterms:created>
  <dcterms:modified xsi:type="dcterms:W3CDTF">2026-02-08T18:48:15Z</dcterms:modified>
</cp:coreProperties>
</file>